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319F-9018-3BC8-D834-6D435CCB1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FF918-888B-6A58-144E-B56312CE6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742F7-72E6-C113-2D19-0E50CB7A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4B64-1D00-5640-1D70-680E973E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CD2E0-D5D7-1670-D389-4D39C805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5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A198-1C2D-2C91-BB7B-95B1CB62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5B73-6C3B-1667-A42A-72D19276F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96D52-BC49-25CE-408D-73376C50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7961B-795B-0296-93DC-0496BDE7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1EE1B-2D9C-8B73-B0A2-30E9017A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8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9426-EA5D-DAFA-D178-DBC594821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AD401-1A6B-5673-4E69-7E5578519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4180F-3720-6EE8-D0B6-58C1B0B0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D1781-AC62-7CD4-0AD6-FCCB2B57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8CA2-D97E-92F1-8C45-B90615E5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20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04C6-9A4C-DA5C-0C43-8C65F0F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D52C-17D9-A83B-6391-EC502BB0A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818DB-833A-D945-FF8F-A696A235E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73580-FBCE-2CD1-F05F-E28C3AC6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A29AE-DF03-AFB0-80C9-8500220E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2E19A-D9C6-AA5E-69E8-AFB6926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3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FC50-4527-CEB8-55E8-70026488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1EBC6-5EDF-1210-1A00-01750CE5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0EAFA-9C09-EA0C-DC31-B0F01C9D0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EAF42-CCCF-9804-1E60-7DE47E2C1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3B1A8-7C81-BC6D-D9FB-872248ED5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93CDD-047E-7A3B-3F26-58FD8558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787D5-E7E7-C66B-FEE5-01F0FFF6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286FA-0816-AAC2-BA24-629BC404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4376-3A72-CE44-AD28-8E506683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378A8-0DFD-F23B-1811-C9D7DFF7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689A5-DE41-0994-B27C-83135FF0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36D62-788D-A8D7-A7F5-5C92CC2D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4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A890F-C811-9234-D84B-1B3CA5E9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3C082-0D77-2FCF-4D74-C51CF836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56372-114B-9B21-792E-2ACEF141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0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2D1D-9780-58D4-EE25-ABF22368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EF74E-7272-D665-28F9-BCDFFE37B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2E316-2DB5-89A5-8B60-C14A7FC24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CE6F2-3EA0-C958-8FF7-3FB4390E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5510D-190B-D5A3-704B-A7B9F0CE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C93C5-F097-2D12-0A8A-862BC0BE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0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4F75-A8DC-BD19-1C27-446FA545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BD0C6-C573-4D21-C8CA-97E7F4EF3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07769-B88B-D6BC-810B-D363B3D6A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71F0B-6860-A5F1-5209-AE03E994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B6A52-0B61-D889-F645-4417939E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BC809-4E61-B568-70A4-1A89B007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5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6B7F-0BE4-192F-CB1C-983B70E1E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52147-C901-2E66-F9F8-F05A3101B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FB18-9072-6230-0204-C4D866EE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2FCE4-B8C7-7448-E934-F190EE6D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0CA7-9011-E3CE-71C0-62834DE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4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06309-02E6-B791-FF88-5F10E91B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EBDAB-1533-2B35-EF1D-10E16717F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ED460-861B-6A91-A8CC-9107E039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2DFC-4142-86B0-4AD8-2CB85E26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4C7A2-C286-A77B-291D-95A397C7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36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7497-5757-90C3-26EF-8ACCCB42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9F86-D49E-2D01-617F-6FC78DC54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131A-A4F5-3043-F7D0-1A071B57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09382-F3AC-3AC6-F97A-10560742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8EA2-E0C8-54EE-7288-178C0A1E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1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245AF-4183-934E-00E1-40FC2068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10517-5123-CAE3-2747-AD24B76F8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52FDD-C829-8F6A-FD6A-08B1E0460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2A2F-F267-4CC4-AAA2-F0544B5E56EE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80744-F37B-34D3-976B-BA8658C8C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AFDB-A2D3-FEC8-9325-3E3FD337E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31005-0E6D-4419-8A02-3F0820BF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80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605E-6FCC-3915-83B3-15C73AABD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latin typeface="Calibri" panose="020F0502020204030204" pitchFamily="34" charset="0"/>
              </a:rPr>
              <a:t>System Design - A Practical Introduction</a:t>
            </a:r>
            <a:endParaRPr lang="en-IN" sz="4400" b="1"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03F3-BF12-72D1-82D6-46A2B2071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For Software Engineers</a:t>
            </a:r>
          </a:p>
          <a:p>
            <a:r>
              <a:rPr lang="en-US" sz="2000">
                <a:latin typeface="Calibri" panose="020F0502020204030204" pitchFamily="34" charset="0"/>
              </a:rPr>
              <a:t>1-Hour Comprehensive Session</a:t>
            </a:r>
          </a:p>
          <a:p>
            <a:r>
              <a:rPr lang="en-US" sz="2000">
                <a:latin typeface="Calibri" panose="020F0502020204030204" pitchFamily="34" charset="0"/>
              </a:rPr>
              <a:t>From Fundamentals to Real-World Applications</a:t>
            </a:r>
            <a:endParaRPr lang="en-IN" sz="20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1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DB48-21F5-741A-5525-AE75EEC4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Calibri" panose="020F0502020204030204" pitchFamily="34" charset="0"/>
              </a:rPr>
              <a:t>Detailed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C15D9-4018-B19A-1E06-69D312303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Calibri" panose="020F0502020204030204" pitchFamily="34" charset="0"/>
              </a:rPr>
              <a:t>Introduction to System Design (5 min)</a:t>
            </a:r>
          </a:p>
          <a:p>
            <a:r>
              <a:rPr lang="en-IN" sz="2000" dirty="0">
                <a:latin typeface="Calibri" panose="020F0502020204030204" pitchFamily="34" charset="0"/>
              </a:rPr>
              <a:t>What it is, why it matters, real-world impact</a:t>
            </a:r>
          </a:p>
          <a:p>
            <a:r>
              <a:rPr lang="en-IN" sz="2000" dirty="0">
                <a:latin typeface="Calibri" panose="020F0502020204030204" pitchFamily="34" charset="0"/>
              </a:rPr>
              <a:t>Scaling Fundamentals (10 min)</a:t>
            </a:r>
          </a:p>
          <a:p>
            <a:r>
              <a:rPr lang="en-IN" sz="2000" dirty="0">
                <a:latin typeface="Calibri" panose="020F0502020204030204" pitchFamily="34" charset="0"/>
              </a:rPr>
              <a:t>Vertical vs Horizontal, Load Balancing, State Management</a:t>
            </a:r>
          </a:p>
          <a:p>
            <a:r>
              <a:rPr lang="en-IN" sz="2000" dirty="0">
                <a:latin typeface="Calibri" panose="020F0502020204030204" pitchFamily="34" charset="0"/>
              </a:rPr>
              <a:t>Data Storage &amp; Retrieval (15 min)</a:t>
            </a:r>
          </a:p>
          <a:p>
            <a:r>
              <a:rPr lang="en-IN" sz="2000" dirty="0">
                <a:latin typeface="Calibri" panose="020F0502020204030204" pitchFamily="34" charset="0"/>
              </a:rPr>
              <a:t>SQL/NoSQL, Sharding, Replication, Caching Layers</a:t>
            </a:r>
          </a:p>
          <a:p>
            <a:r>
              <a:rPr lang="en-IN" sz="2000" dirty="0">
                <a:latin typeface="Calibri" panose="020F0502020204030204" pitchFamily="34" charset="0"/>
              </a:rPr>
              <a:t>Distributed System Concepts (15 min)</a:t>
            </a:r>
          </a:p>
          <a:p>
            <a:r>
              <a:rPr lang="en-IN" sz="2000" dirty="0">
                <a:latin typeface="Calibri" panose="020F0502020204030204" pitchFamily="34" charset="0"/>
              </a:rPr>
              <a:t>CAP Theorem, Consistency Models, Message Queues</a:t>
            </a:r>
          </a:p>
          <a:p>
            <a:r>
              <a:rPr lang="en-IN" sz="2000" dirty="0">
                <a:latin typeface="Calibri" panose="020F0502020204030204" pitchFamily="34" charset="0"/>
              </a:rPr>
              <a:t>Architecture Patterns (10 min)</a:t>
            </a:r>
          </a:p>
          <a:p>
            <a:r>
              <a:rPr lang="en-IN" sz="2000" dirty="0">
                <a:latin typeface="Calibri" panose="020F0502020204030204" pitchFamily="34" charset="0"/>
              </a:rPr>
              <a:t>Microservices, API Gateway, Service Mesh</a:t>
            </a:r>
          </a:p>
          <a:p>
            <a:r>
              <a:rPr lang="en-IN" sz="2000" dirty="0">
                <a:latin typeface="Calibri" panose="020F0502020204030204" pitchFamily="34" charset="0"/>
              </a:rPr>
              <a:t>Case Study: URL Shortener (5 min)</a:t>
            </a:r>
          </a:p>
        </p:txBody>
      </p:sp>
    </p:spTree>
    <p:extLst>
      <p:ext uri="{BB962C8B-B14F-4D97-AF65-F5344CB8AC3E}">
        <p14:creationId xmlns:p14="http://schemas.microsoft.com/office/powerpoint/2010/main" val="130930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EF16-C559-B40B-545A-598C7DAC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What is System Design?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8D936-F2C1-340B-1A45-D1A337E65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Definition &amp; Scope: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Architecture of large-scale distributed systems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Balancing functional &amp; non-functional requirements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Key Considerations: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Performance: Response time, throughput (e.g., &lt;100ms latency)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Scalability: Handle growth (1K to 1B users)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Reliability: 99.99% uptime = 52 min downtime/year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Maintainability: Easy to modify and operate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Real Impact: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Netflix: 200M+ users streaming simultaneously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Amazon: 1.6M packages delivered daily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Good design = Billions saved, Bad design = Company failure</a:t>
            </a: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06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845D-3131-85BC-641F-C7AE8488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Calibri" panose="020F0502020204030204" pitchFamily="34" charset="0"/>
              </a:rPr>
              <a:t>High-Level vs. Low-Level Design Deep Dive</a:t>
            </a:r>
            <a:endParaRPr lang="en-IN" sz="2800" b="1">
              <a:latin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12F3E-3B91-6E94-9124-DD1CF067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High-Level Design (HLD):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System architecture &amp; component interaction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Technology stack selection (Node.js vs Java vs Go)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Database choices (PostgreSQL vs MongoDB vs Cassandra)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Communication protocols (REST vs </a:t>
            </a:r>
            <a:r>
              <a:rPr lang="en-IN" sz="1600" dirty="0" err="1">
                <a:latin typeface="Calibri" panose="020F0502020204030204" pitchFamily="34" charset="0"/>
              </a:rPr>
              <a:t>GraphQL</a:t>
            </a:r>
            <a:r>
              <a:rPr lang="en-IN" sz="1600" dirty="0">
                <a:latin typeface="Calibri" panose="020F0502020204030204" pitchFamily="34" charset="0"/>
              </a:rPr>
              <a:t> vs </a:t>
            </a:r>
            <a:r>
              <a:rPr lang="en-IN" sz="1600" dirty="0" err="1">
                <a:latin typeface="Calibri" panose="020F0502020204030204" pitchFamily="34" charset="0"/>
              </a:rPr>
              <a:t>gRPC</a:t>
            </a:r>
            <a:r>
              <a:rPr lang="en-IN" sz="1600" dirty="0">
                <a:latin typeface="Calibri" panose="020F0502020204030204" pitchFamily="34" charset="0"/>
              </a:rPr>
              <a:t>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Example: 'We need microservices with Kafka for async'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Low-Level Design (LLD):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Class diagrams &amp; data structures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Algorithm selection (B-tree vs Hash table)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API contracts &amp; error handling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Example: 'User class with </a:t>
            </a:r>
            <a:r>
              <a:rPr lang="en-IN" sz="1600" dirty="0" err="1">
                <a:latin typeface="Calibri" panose="020F0502020204030204" pitchFamily="34" charset="0"/>
              </a:rPr>
              <a:t>BCrypt</a:t>
            </a:r>
            <a:r>
              <a:rPr lang="en-IN" sz="1600" dirty="0">
                <a:latin typeface="Calibri" panose="020F0502020204030204" pitchFamily="34" charset="0"/>
              </a:rPr>
              <a:t> for password hashing'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00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511B-23BA-C2F9-7350-8CD6982B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Scaling Strategies: Vertical vs Horizontal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655E7-2B49-C790-7BBB-88B7D9625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Vertical Scaling (Scale-Up):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Add resources to existing server (RAM: 16GB to 256GB)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Pros: Simple, no code changes, strong consistency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Cons: Hardware limits, single point of failure, expensive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Use case: Database servers, legacy applications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Horizontal Scaling (Scale-Out):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Add more servers (1 server to 100 servers)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Pros: Virtually unlimited scale, redundancy, cost-effective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Cons: Complexity, data consistency challenges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Use case: Web servers, microservices, big data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Real Examples: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Stack Overflow: Primarily vertical (massive SQL Server)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Google: Horizontal (thousands of commodity servers)</a:t>
            </a: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566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335F-DB86-F1AB-D978-BB337D67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Load Balancing: Algorithms &amp; 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827C8-1BBE-2E87-D8A7-562712143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Load Balancing Algorithms: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Round Robin: Simple rotation (Server 1-2-3-1)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Least Connections: Route to least busy server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Weighted: Assign capacity scores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IP Hash: Same client to same server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Geographic: Route based on location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Types of Load Balancers: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L4 (Transport): Fast, works with TCP/UDP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L7 (Application): Smart routing, understands HTTP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Advanced Features: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Health checks: Remove failed servers automatically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SSL termination: Decrypt once, improve performance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Rate limiting: Prevent DDoS, ensure fair usage</a:t>
            </a: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17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426D-F72A-DB34-235E-A7E18955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SQL vs NoSQL: Comprehensive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6DE3A-F631-DFD7-E19D-B89E6628D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SQL Databases (RDBMS):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Structure: Tables with fixed schema, ACID compliant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Examples: PostgreSQL, MySQL, Oracle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Strengths: Complex queries, transactions, consistency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Use cases: Financial systems, e-commerce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NoSQL Categories: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Document (MongoDB): JSON-like, flexible schema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Key-Value (Redis): Ultra-fast, simple lookups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Column-Family (Cassandra): Wide rows, time-series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Graph (Neo4j): Relationships, social networks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Decision Factors: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Need ACID? Use SQL | Need scale? Use NoSQL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Complex joins? Use SQL | Simple lookups? Use NoSQL</a:t>
            </a:r>
          </a:p>
        </p:txBody>
      </p:sp>
    </p:spTree>
    <p:extLst>
      <p:ext uri="{BB962C8B-B14F-4D97-AF65-F5344CB8AC3E}">
        <p14:creationId xmlns:p14="http://schemas.microsoft.com/office/powerpoint/2010/main" val="237809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7D8F-7BBB-44C1-E87A-FCCFE663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Caching: Layers, Strategies &amp;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DA6AC-6A21-76E5-4ABC-629765C07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Cache Layers (Top to Bottom):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Browser Cache: Local storage, no network call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CDN: Geographic distribution (</a:t>
            </a:r>
            <a:r>
              <a:rPr lang="en-IN" sz="1600" dirty="0" err="1">
                <a:latin typeface="Calibri" panose="020F0502020204030204" pitchFamily="34" charset="0"/>
              </a:rPr>
              <a:t>CloudFlare</a:t>
            </a:r>
            <a:r>
              <a:rPr lang="en-IN" sz="1600" dirty="0">
                <a:latin typeface="Calibri" panose="020F0502020204030204" pitchFamily="34" charset="0"/>
              </a:rPr>
              <a:t>, Akamai)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Reverse Proxy: Nginx caching static content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Application Cache: Redis/Memcached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Database Cache: Query result caching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Caching Patterns: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Cache-Aside: App manages cache explicitly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Write-Through: Write to cache &amp; DB simultaneously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Write-Behind: Write to cache first, DB later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Invalidation Strategies: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TTL: Expire after time (e.g., 5 minutes)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Event-based: Invalidate on data change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LRU: Evict least recently used when full</a:t>
            </a:r>
          </a:p>
        </p:txBody>
      </p:sp>
    </p:spTree>
    <p:extLst>
      <p:ext uri="{BB962C8B-B14F-4D97-AF65-F5344CB8AC3E}">
        <p14:creationId xmlns:p14="http://schemas.microsoft.com/office/powerpoint/2010/main" val="178668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0321-E348-5472-A736-F66F342B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CAP Theorem &amp; Consistency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5B369-BBD7-065D-8ABA-06CBD7979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CAP Theorem Explained: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Consistency: All nodes see same data simultaneously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Availability: System remains operational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Partition Tolerance: Survives network failures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Real-World Trade-offs: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CP Systems: Banking - Reject transactions if unsure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AP Systems: Social media - Show slightly old posts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CA Systems: Single-node - No partition tolerance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Consistency Models: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Strong: All reads return most recent write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Eventual: Nodes converge over time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Weak: No guarantees on order or timing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Example: DynamoDB offers both eventual and strong</a:t>
            </a: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423E-9820-5C04-B1B2-7E12CDDA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Microservices Architecture Deep Dive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CBC1F-2DA7-A333-1E0D-E34BDC13D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Microservices Characteristics: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Independent deployment (User v2.1, Payment v1.8)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Technology diversity (Node.js frontend, Java backend)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Fault isolation (Payment failure won't affect browsing)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Team autonomy (Pizza team owns full service)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Communication Patterns: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Synchronous: REST/</a:t>
            </a:r>
            <a:r>
              <a:rPr lang="en-IN" sz="1600" dirty="0" err="1">
                <a:latin typeface="Calibri" panose="020F0502020204030204" pitchFamily="34" charset="0"/>
              </a:rPr>
              <a:t>gRPC</a:t>
            </a:r>
            <a:r>
              <a:rPr lang="en-IN" sz="1600" dirty="0">
                <a:latin typeface="Calibri" panose="020F0502020204030204" pitchFamily="34" charset="0"/>
              </a:rPr>
              <a:t> for real-time needs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Asynchronous: Message queues for decoupling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Service Mesh: Istio/</a:t>
            </a:r>
            <a:r>
              <a:rPr lang="en-IN" sz="1600" dirty="0" err="1">
                <a:latin typeface="Calibri" panose="020F0502020204030204" pitchFamily="34" charset="0"/>
              </a:rPr>
              <a:t>Linkerd</a:t>
            </a:r>
            <a:r>
              <a:rPr lang="en-IN" sz="1600" dirty="0">
                <a:latin typeface="Calibri" panose="020F0502020204030204" pitchFamily="34" charset="0"/>
              </a:rPr>
              <a:t> for communication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Challenges &amp; Solutions: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Distributed tracing: Jaeger/Zipkin for request flow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Service discovery: Consul/Eureka for routing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Data consistency: Saga pattern for transactions</a:t>
            </a:r>
          </a:p>
        </p:txBody>
      </p:sp>
    </p:spTree>
    <p:extLst>
      <p:ext uri="{BB962C8B-B14F-4D97-AF65-F5344CB8AC3E}">
        <p14:creationId xmlns:p14="http://schemas.microsoft.com/office/powerpoint/2010/main" val="31745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96FE-4988-EAD7-9D1C-A9413624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Calibri" panose="020F0502020204030204" pitchFamily="34" charset="0"/>
              </a:rPr>
              <a:t>Case Study: Designing a URL Shortener</a:t>
            </a:r>
            <a:endParaRPr lang="en-IN" sz="2800" b="1">
              <a:latin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074C-4D3B-A507-0E19-A56027DB9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Requirements Analysis: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Functional: Shorten URLs, redirect, custom aliases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Scale: 100M URLs/month, 1B redirects/month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Performance: &lt;50ms redirect latency, 99.9% uptime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System Design: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API Gateway: Rate limiting, authentication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Application Servers: Stateless, horizontally scaled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Database: MySQL for URL mappings (sharded)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Cache: Redis for hot URLs (80/20 rule)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Analytics: Kafka to Spark to Cassandra pipeline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IN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Key Decisions: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Base62 encoding (6 chars = 56B combinations)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NoSQL for analytics (write-heavy, time-series)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IN" sz="1600" dirty="0">
                <a:latin typeface="Calibri" panose="020F0502020204030204" pitchFamily="34" charset="0"/>
              </a:rPr>
              <a:t>Geographic distribution via CDN</a:t>
            </a:r>
          </a:p>
        </p:txBody>
      </p:sp>
    </p:spTree>
    <p:extLst>
      <p:ext uri="{BB962C8B-B14F-4D97-AF65-F5344CB8AC3E}">
        <p14:creationId xmlns:p14="http://schemas.microsoft.com/office/powerpoint/2010/main" val="308659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7AF7-0088-42C6-84D1-E87115DC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Calibri" panose="020F0502020204030204" pitchFamily="34" charset="0"/>
              </a:rPr>
              <a:t>Summary &amp;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E6712-F4F6-4CCB-55C6-CD1E80443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Key Takeaways: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No perfect solution - only trade-offs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Start simple, evolve with growth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Measure everything - can't improve what you don't measure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Design Principles: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Design for failure - anything that can fail, will fail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Stateless when possible - easier to scale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Cache aggressively but invalidate carefully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Monitor and alert - observability is crucial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dirty="0">
                <a:latin typeface="Calibri" panose="020F0502020204030204" pitchFamily="34" charset="0"/>
              </a:rPr>
              <a:t>Success Tips: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Clarify requirements before designing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Start high-level, drill down systematically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Explain trade-offs for every decision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Consider failure scenarios and recovery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Questions &amp; Discussion</a:t>
            </a:r>
            <a:endParaRPr lang="en-I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79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1095</Words>
  <Application>Microsoft Office PowerPoint</Application>
  <PresentationFormat>Widescreen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System Design - A Practical Introduction</vt:lpstr>
      <vt:lpstr>Detailed Agenda</vt:lpstr>
      <vt:lpstr>What is System Design?</vt:lpstr>
      <vt:lpstr>High-Level vs. Low-Level Design Deep Dive</vt:lpstr>
      <vt:lpstr>Scaling Strategies: Vertical vs Horizontal</vt:lpstr>
      <vt:lpstr>Load Balancing: Algorithms &amp; Strategies</vt:lpstr>
      <vt:lpstr>SQL vs NoSQL: Comprehensive Comparison</vt:lpstr>
      <vt:lpstr>Caching: Layers, Strategies &amp; Patterns</vt:lpstr>
      <vt:lpstr>CAP Theorem &amp; Consistency Models</vt:lpstr>
      <vt:lpstr>Microservices Architecture Deep Dive</vt:lpstr>
      <vt:lpstr>Case Study: Designing a URL Shortener</vt:lpstr>
      <vt:lpstr>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Kandhi</dc:creator>
  <cp:lastModifiedBy>Rakesh Kandhi</cp:lastModifiedBy>
  <cp:revision>2</cp:revision>
  <dcterms:created xsi:type="dcterms:W3CDTF">2025-08-04T18:44:59Z</dcterms:created>
  <dcterms:modified xsi:type="dcterms:W3CDTF">2025-08-05T04:59:47Z</dcterms:modified>
</cp:coreProperties>
</file>